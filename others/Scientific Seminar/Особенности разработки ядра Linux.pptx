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6"/>
  </p:notesMasterIdLst>
  <p:handoutMasterIdLst>
    <p:handoutMasterId r:id="rId27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93" r:id="rId13"/>
    <p:sldId id="288" r:id="rId14"/>
    <p:sldId id="290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739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C1A1616-714D-4ADA-BBBA-B34ABEEC5283}" type="datetime1">
              <a:rPr lang="ru-RU" smtClean="0"/>
              <a:t>10.01.2026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FA70580-B89C-4157-871D-6B9318EE5F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8D124BC-5E8F-4686-A3D0-46BF78A79F81}" type="datetime1">
              <a:rPr lang="ru-RU" smtClean="0"/>
              <a:pPr/>
              <a:t>10.01.2026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7AF00E9-A49D-4007-B3B9-A3783809E5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A686D-9B70-E0C2-191D-8AE1EEDA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9B0D0B-25B1-DEF8-8DFA-0785B9FF5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60D73EE-2199-42F4-993B-48F29046A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7B8789-D7B1-FD10-59CD-FD4C0ADB1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336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1595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843F-70AA-263B-47E7-1C63AEA4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C62D81-1F7C-89D3-9EDA-EBD476417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E5279B-640C-830E-2F8F-3EF66F5F2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F71CF2A-944C-CD03-3DB2-4D701DD2C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380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D09A-E985-8F93-3FAA-67B63E93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3317D8B-E86B-9D0B-C1D5-0C3CEADE4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548F8A-64EC-C229-A8D3-DBD91076F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AE88D5-AF36-3060-53BE-A43141D10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537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09A8-14D5-3AFB-C449-078745D7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65F791C-D19F-6862-747A-E5A03DAEF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F2A9B5-35FE-EE93-A045-F87D20590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5F3256-E002-6580-0DE6-B047A7768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530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F93C-B72C-8CA3-F814-B73C3E58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3E0091-F16C-47DC-1D83-367CF1C21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A3E085D-6FD9-8028-177F-74F0FA712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CFB1E-806D-599C-BBCB-989C0575E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498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9259D-DC55-2F51-EB2C-59351494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5D39CA-DB1B-6CC3-D72A-D1E8C5884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58E7FA0-1585-8EBF-6F13-7A98B01DD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F656E1-E68A-4362-2914-E2C8D10F9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550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DF9F-E4A7-A626-5EB3-36A18E24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6F428CF-5386-B9A0-8CE8-98FB49BDC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D9DE551-42A5-DC72-3BA2-4E721202C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B21568-8AA5-2504-F63E-E586D6652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870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5040-5A53-AB0D-45C5-8C45647A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796400-F7DD-A7D9-3EB5-2563F6ECA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583B830-09CA-CFFA-35EA-CEB46B11A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BC3E97-B1EA-3AAF-5011-6201573D5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1349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3B53E-AD6B-A000-46BB-D24738D4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10BE2EF-F2FE-35FB-32C6-7D1C4C478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2B7E94D-3222-8E87-0F3C-8EBC5AD02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C0FB10-6690-7E2C-0D05-4D4C0657B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500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AB64-ECE6-89D2-87B1-54BFEBC8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86A369-65F8-2ABA-213B-BC9167C46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B85E84-824A-E56A-98CC-ED35E07C2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26F3E1-DEE0-7BE5-D20A-9B5141EF9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7125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6D44-9326-E64D-3204-83CDBA75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216C74C-F1B0-CEE8-E52E-76B3336CC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63D3057-FD83-E093-072A-98298AD33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571565-35B4-A357-8174-A07B3DCED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840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ru-RU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11" name="Овал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Полилиния: фигура 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Полилиния: фигура 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Полилиния: Фигура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Полилиния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2" name="Полилиния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3" name="Полилиния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8" name="Рисунок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Полилиния: фигура 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Полилиния: фигура 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Полилиния: Фигура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ru-RU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ru-RU" sz="1800">
                <a:solidFill>
                  <a:schemeClr val="tx1"/>
                </a:solidFill>
              </a:defRPr>
            </a:lvl1pPr>
            <a:lvl2pPr algn="r">
              <a:defRPr lang="ru-RU" sz="1200">
                <a:solidFill>
                  <a:schemeClr val="tx1"/>
                </a:solidFill>
              </a:defRPr>
            </a:lvl2pPr>
            <a:lvl3pPr algn="r">
              <a:defRPr lang="ru-RU" sz="1200">
                <a:solidFill>
                  <a:schemeClr val="tx1"/>
                </a:solidFill>
              </a:defRPr>
            </a:lvl3pPr>
            <a:lvl4pPr algn="r">
              <a:defRPr lang="ru-RU" sz="1200">
                <a:solidFill>
                  <a:schemeClr val="tx1"/>
                </a:solidFill>
              </a:defRPr>
            </a:lvl4pPr>
            <a:lvl5pPr algn="r"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Полилиния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0" name="Полилиния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1" name="Полилиния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Полилиния: Фигура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15" name="Полилиния: Фигура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ru-RU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Полилиния: фигура 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ru-RU" sz="6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lvl="0" rtl="0">
              <a:lnSpc>
                <a:spcPct val="100000"/>
              </a:lnSpc>
            </a:pPr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20ГГ</a:t>
            </a:r>
            <a:endParaRPr lang="ru-RU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>
              <a:latin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BA1B0FB-D917-4C8C-928F-313BD683BF39}" type="slidenum">
              <a:rPr lang="ru-RU" smtClean="0"/>
              <a:pPr/>
              <a:t>‹#›</a:t>
            </a:fld>
            <a:endParaRPr 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99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think/topics/linux-kernel" TargetMode="External"/><Relationship Id="rId3" Type="http://schemas.openxmlformats.org/officeDocument/2006/relationships/hyperlink" Target="https://docs.kernel.org/process/2.Process.html" TargetMode="External"/><Relationship Id="rId7" Type="http://schemas.openxmlformats.org/officeDocument/2006/relationships/hyperlink" Target="https://github.com/torvalds/linux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stackoverflow.com/questions/41713556/what-is-difference-between-linux-kernel-versions" TargetMode="External"/><Relationship Id="rId11" Type="http://schemas.openxmlformats.org/officeDocument/2006/relationships/hyperlink" Target="https://www.infoworld.com/article/2212848/microsoft-gets-more-facts-for-anti-linux-campaign-2.html" TargetMode="External"/><Relationship Id="rId5" Type="http://schemas.openxmlformats.org/officeDocument/2006/relationships/hyperlink" Target="https://kernel.org/" TargetMode="External"/><Relationship Id="rId10" Type="http://schemas.openxmlformats.org/officeDocument/2006/relationships/hyperlink" Target="https://cse.umn.edu/cs/linux-incident" TargetMode="External"/><Relationship Id="rId4" Type="http://schemas.openxmlformats.org/officeDocument/2006/relationships/hyperlink" Target="https://glaubercosta-11125.medium.com/the-linux-development-process-is-it-worth-the-hassle-4f09d7ff09a2" TargetMode="External"/><Relationship Id="rId9" Type="http://schemas.openxmlformats.org/officeDocument/2006/relationships/hyperlink" Target="en.wikipedia.org/wiki/Linux_kerne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450" y="662937"/>
            <a:ext cx="5375012" cy="5542025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разработки ядра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3" descr="Цифровой фон точек данных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70969"/>
            <a:ext cx="11090275" cy="168405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такое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Linux?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2419350"/>
            <a:ext cx="5977756" cy="391318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>
              <a:buClr>
                <a:srgbClr val="77CAEE"/>
              </a:buClr>
              <a:buSzPct val="45000"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ядром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операционной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которое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берёт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себя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огромное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низкоуровневых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процессором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памятью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подключаемыми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устройствами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сетью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другое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Ядро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предоставляет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высокоуровневым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buClr>
                <a:srgbClr val="77CAEE"/>
              </a:buClr>
              <a:buSzPct val="45000"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open-source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проектом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означает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его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любой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присоединиться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495E6-C347-0561-AE4B-06EC8A6DA93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037032" y="2597638"/>
            <a:ext cx="4860000" cy="2429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Сферы использования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5" descr="Цифровой фон точек данных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481" y="364049"/>
            <a:ext cx="10638247" cy="3155900"/>
          </a:xfrm>
          <a:noFill/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lvl="0">
              <a:buClr>
                <a:srgbClr val="77CAEE"/>
              </a:buClr>
              <a:buSzPct val="45000"/>
            </a:pP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Серверы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часть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серверов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облачных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</a:t>
            </a: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Мобильные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ОС Android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основана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Linux</a:t>
            </a: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Суперкомпьютеры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более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95%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суперкомпьютеров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Linux</a:t>
            </a: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бортовые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автомобилей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(Tesla, Google) и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трафиком</a:t>
            </a: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Космос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космических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аппаратах</a:t>
            </a: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Настольные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ПК и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ноутбуки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разработчиками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481" y="4314884"/>
            <a:ext cx="9517371" cy="1269839"/>
          </a:xfrm>
          <a:noFill/>
        </p:spPr>
        <p:txBody>
          <a:bodyPr rtlCol="0"/>
          <a:lstStyle>
            <a:defPPr>
              <a:defRPr lang="ru-RU"/>
            </a:defPPr>
          </a:lstStyle>
          <a:p>
            <a:pPr lvl="0">
              <a:spcBef>
                <a:spcPts val="1191"/>
              </a:spcBef>
              <a:spcAft>
                <a:spcPts val="992"/>
              </a:spcAft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Архитектурные особенности семейства Linux - такие как малое ядро, гибкая система модулей и неприхотливость к ресурсам, позволили этим OS стать одним из самых востребовательных в современном мире.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789" y="193675"/>
            <a:ext cx="7960421" cy="1450217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en-GB" b="1">
                <a:latin typeface="Times New Roman" panose="02020603050405020304" pitchFamily="18" charset="0"/>
                <a:cs typeface="Times New Roman" panose="02020603050405020304" pitchFamily="18" charset="0"/>
              </a:rPr>
              <a:t>2 стороны разработки</a:t>
            </a:r>
            <a:endParaRPr lang="ru-RU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20B99D-0FD9-E9DB-2D1C-AD8BFCE5E4B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7315" y="2792361"/>
            <a:ext cx="5580527" cy="345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D043F9-1E2C-0632-0512-F3BAC0B463B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197214" y="2792361"/>
            <a:ext cx="4772200" cy="3363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9074E5-3C52-C1A6-1D64-EF875286F2D5}"/>
              </a:ext>
            </a:extLst>
          </p:cNvPr>
          <p:cNvSpPr txBox="1"/>
          <p:nvPr/>
        </p:nvSpPr>
        <p:spPr>
          <a:xfrm>
            <a:off x="8116183" y="2018071"/>
            <a:ext cx="392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Философия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endParaRPr 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316272-85AC-7F24-2114-CC2BE06E3562}"/>
              </a:ext>
            </a:extLst>
          </p:cNvPr>
          <p:cNvSpPr txBox="1"/>
          <p:nvPr/>
        </p:nvSpPr>
        <p:spPr>
          <a:xfrm>
            <a:off x="28235" y="2018071"/>
            <a:ext cx="6198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мнения крупных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IT-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компаний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387" y="2114099"/>
            <a:ext cx="10127225" cy="2286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Как происходит процесс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74339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Общее описание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140542"/>
            <a:ext cx="11346170" cy="4952283"/>
          </a:xfrm>
        </p:spPr>
        <p:txBody>
          <a:bodyPr rtlCol="0">
            <a:normAutofit fontScale="92500" lnSpcReduction="20000"/>
          </a:bodyPr>
          <a:lstStyle>
            <a:defPPr>
              <a:defRPr lang="ru-RU"/>
            </a:defPPr>
          </a:lstStyle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Ядро Linux развивается как открытый распределённый проект с тысячами участников по всему миру.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инструментам взаимодействия является электронная почта и рассылочные списки (как и в большинстве open-source проектах). Этот подход пусть и часто критикуется, но зато позволяет сохранять асинхронность, гибкость и детальность обсуждений.</a:t>
            </a:r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редактор изменений – создатель ядра – Линус Торвальдс. </a:t>
            </a:r>
          </a:p>
          <a:p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Ответственные разработчики (Maintainers): Каждый курирует определённую подсистему (драйверы, ФС, сеть и др.). Они отбирают патчи для своих областей.</a:t>
            </a:r>
          </a:p>
          <a:p>
            <a:pPr lvl="0">
              <a:buClr>
                <a:srgbClr val="77CAEE"/>
              </a:buClr>
              <a:buSzPct val="45000"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Разработчики: присылают патчи на рассмотрение</a:t>
            </a:r>
          </a:p>
          <a:p>
            <a:pPr lvl="0">
              <a:buClr>
                <a:srgbClr val="77CAEE"/>
              </a:buClr>
              <a:buSzPct val="45000"/>
            </a:pP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Тестировщики: тестируют релиз-кандидаты</a:t>
            </a: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Весь процесс контроля версий построен на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git,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созданном Линусом Торвальдсом в 2005 году под нужды ядра.</a:t>
            </a: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нет одной методологии, вместо этого используется сложившаяся инженерная модель, которая наиболее походит на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bazaar-model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открытая разработка, нет жёсткого центра планирования, большое количество параллельных веток, решения принимаются на основе качества кода, а не должности.</a:t>
            </a:r>
          </a:p>
          <a:p>
            <a:endParaRPr 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244" y="350663"/>
            <a:ext cx="4001472" cy="1332000"/>
          </a:xfrm>
        </p:spPr>
        <p:txBody>
          <a:bodyPr wrap="square" rtlCol="0" anchor="t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вкладов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657" y="1494502"/>
            <a:ext cx="6292646" cy="4763931"/>
          </a:xfrm>
        </p:spPr>
        <p:txBody>
          <a:bodyPr wrap="square" rtlCol="0">
            <a:normAutofit/>
          </a:bodyPr>
          <a:lstStyle>
            <a:defPPr>
              <a:defRPr lang="ru-RU"/>
            </a:defPPr>
          </a:lstStyle>
          <a:p>
            <a:pPr marL="342900" lvl="1" indent="-342900" rtl="0">
              <a:lnSpc>
                <a:spcPct val="100000"/>
              </a:lnSpc>
              <a:buFont typeface="+mj-lt"/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Патч – единица изменения кода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rtl="0">
              <a:lnSpc>
                <a:spcPct val="100000"/>
              </a:lnSpc>
              <a:buFont typeface="+mj-lt"/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пишет и тестирует патч локально.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rtl="0">
              <a:lnSpc>
                <a:spcPct val="100000"/>
              </a:lnSpc>
              <a:buFont typeface="+mj-lt"/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Патч отправляется на mailing list соответствующего подсервиса (например файловой системы или драйвера).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rtl="0">
              <a:lnSpc>
                <a:spcPct val="100000"/>
              </a:lnSpc>
              <a:buFont typeface="+mj-lt"/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Локальные мейнтейнеры проверяют, комментируют и принимают или отвергают патчи.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rtl="0">
              <a:lnSpc>
                <a:spcPct val="100000"/>
              </a:lnSpc>
              <a:buFont typeface="+mj-lt"/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Если мейнтернеры принимают патч, то он отправляется на рассмотрение Линусу Торвальдсу и только он финально мёрджит его в main-ветку.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rtl="0">
              <a:lnSpc>
                <a:spcPct val="100000"/>
              </a:lnSpc>
              <a:buFont typeface="+mj-lt"/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Это позволяет проекту масштабироваться — без центрального узкого менеджера, но с чёткой иерархией ответственных. </a:t>
            </a:r>
          </a:p>
          <a:p>
            <a:pPr marL="0" lvl="1" indent="0" rtl="0">
              <a:lnSpc>
                <a:spcPct val="100000"/>
              </a:lnSpc>
              <a:buNone/>
            </a:pPr>
            <a:endParaRPr lang="ru-RU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BB94F-2F4F-A357-CD81-BF32C6E20099}"/>
              </a:ext>
            </a:extLst>
          </p:cNvPr>
          <p:cNvSpPr txBox="1"/>
          <p:nvPr/>
        </p:nvSpPr>
        <p:spPr>
          <a:xfrm>
            <a:off x="7428415" y="350663"/>
            <a:ext cx="4458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патчу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9440E-CFA0-84D6-458D-347772D39A84}"/>
              </a:ext>
            </a:extLst>
          </p:cNvPr>
          <p:cNvSpPr txBox="1"/>
          <p:nvPr/>
        </p:nvSpPr>
        <p:spPr>
          <a:xfrm>
            <a:off x="7256206" y="1917290"/>
            <a:ext cx="46309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Должен решать ровно 1 задачу⠀⠀⠀⠀⠀⠀⠀</a:t>
            </a:r>
          </a:p>
          <a:p>
            <a:pPr marL="342900" indent="-342900">
              <a:buAutoNum type="arabicPeriod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Сам код должен строго соответствовать формату</a:t>
            </a:r>
          </a:p>
          <a:p>
            <a:pPr marL="342900" indent="-342900">
              <a:buAutoNum type="arabicPeriod"/>
            </a:pP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К любому патчу обязательна подробная документация (размер которой порой превышает количество кода).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Всё это критически важно для возможности дальнейшего сопровождения</a:t>
            </a:r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F18D-F937-3B65-B9A3-F80C76A11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2D2B291-F2D7-1892-EC07-E1972D9FF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жизненного цикла разработки</a:t>
            </a:r>
          </a:p>
        </p:txBody>
      </p:sp>
      <p:pic>
        <p:nvPicPr>
          <p:cNvPr id="11" name="Рисунок 15" descr="Цифровой фон точек данных">
            <a:extLst>
              <a:ext uri="{FF2B5EF4-FFF2-40B4-BE49-F238E27FC236}">
                <a16:creationId xmlns:a16="http://schemas.microsoft.com/office/drawing/2014/main" id="{3670CE30-9662-A01A-502B-64121D1377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31047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232247"/>
            <a:ext cx="7205840" cy="783216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algn="l" rtl="0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Merge Window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(окно слияния)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FA5DC-FD39-C3ED-A259-C74B3816DDC8}"/>
              </a:ext>
            </a:extLst>
          </p:cNvPr>
          <p:cNvSpPr txBox="1"/>
          <p:nvPr/>
        </p:nvSpPr>
        <p:spPr>
          <a:xfrm>
            <a:off x="432620" y="2192594"/>
            <a:ext cx="5230761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каждого стабильного релиза открывается период (около двух недель), когда: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Собираются и добавляются новые функции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Принимаются изменения в кодовую базу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Патчи вливаются в основную ветку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Это наиболее активная фаза по количеству изменений (до 1000 в день)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6B4561-217F-24A7-744A-57C8A6CF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46433"/>
            <a:ext cx="5684303" cy="196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448986"/>
            <a:ext cx="5967924" cy="1332000"/>
          </a:xfrm>
          <a:noFill/>
        </p:spPr>
        <p:txBody>
          <a:bodyPr lIns="0"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Кандидаты в релиз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(RC)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2AEFCD-88C4-E4F2-ADCE-6622D1EFF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965095"/>
            <a:ext cx="6970815" cy="3995650"/>
          </a:xfrm>
        </p:spPr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этап можно охарактеризовать как период стабилизации.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Release Candidate -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это версия ядра, которая, как предполагается, содержит все запланированные функции для следующего стабильного релиза. Основная цель этапа RC — не добавлять новую функциональность, а находить и исправлять баги и улучшать стабильность.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Сами версии тестируются сообществом. Мэйнтейнеры отправляют Линусу Торвальдсу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pull-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реквесты с исправлением найденных ошибок.</a:t>
            </a: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версии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linux-6.10-rc1 (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после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rc1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идут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rc2, rc3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 т.д..)</a:t>
            </a:r>
          </a:p>
        </p:txBody>
      </p:sp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9F28-EC92-0593-CEC1-03185198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1A79785-D8F9-1A94-BD3C-D593A7DB7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DEACDCD8-EE88-5236-7880-AF02F8F5589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33496DC9-241B-6BF2-FA49-F018C8845753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9F92105C-C771-C600-01FC-5B6B040E5F7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CF8B3-8A7E-B97E-C935-DC6B6C2EC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193" y="232247"/>
            <a:ext cx="3528576" cy="783216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algn="l" rtl="0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Stable Release </a:t>
            </a:r>
            <a:endParaRPr lang="ru-RU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A7F8114-E5EB-900D-74B6-F32705617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7924C-A737-7E74-C0EA-08432A719190}"/>
              </a:ext>
            </a:extLst>
          </p:cNvPr>
          <p:cNvSpPr txBox="1"/>
          <p:nvPr/>
        </p:nvSpPr>
        <p:spPr>
          <a:xfrm>
            <a:off x="227347" y="1455706"/>
            <a:ext cx="51324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Это основная, пронумерованная версия ядра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Linux,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которую Линус Торвальдс объявляет готовой. Она становится новой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веткой и отправной точкой для двух параллельных процессов: 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нового цикла разработки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Долгосрочное поддержание стабильности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 «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» здесь означает отсутствие известных критических уязвимостей, а не полная свобода от ошибок. Новые баги будут находиться и исправляться в этой ветке. Этими исправлениями уже берёт на себя отдельная группа мейнтейнеров.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2DF2C-4700-1E43-FA25-9F91722EA770}"/>
              </a:ext>
            </a:extLst>
          </p:cNvPr>
          <p:cNvSpPr txBox="1"/>
          <p:nvPr/>
        </p:nvSpPr>
        <p:spPr>
          <a:xfrm>
            <a:off x="6043853" y="430688"/>
            <a:ext cx="5758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Продолжительность поддержки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21320-0B5F-6300-42D7-53BACE81B299}"/>
              </a:ext>
            </a:extLst>
          </p:cNvPr>
          <p:cNvSpPr txBox="1"/>
          <p:nvPr/>
        </p:nvSpPr>
        <p:spPr>
          <a:xfrm>
            <a:off x="6430297" y="1455706"/>
            <a:ext cx="49858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Обычные версии (например, 6.10, 6.11) поддерживаются активно от 2 до 4 месяцев (пока выходят следующие стабильные релизы)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год выбирается несколько версий (обычно 1-2) как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LTS-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релизы. Например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6.6 –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LTS-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релиз. Их поддерживает отдельная команда 6 лет. А иногда и дольше, если есть запрос от сообщества.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 популярные дистрибутивы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Ubuntu LTS, RHEL, Debian Stable, OpenSUSE)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 именно эти версии ядра.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По окончании срока поддержки версия получает статус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“End of Life”.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 мейнтейнерами она более не обновляется.</a:t>
            </a:r>
          </a:p>
        </p:txBody>
      </p:sp>
    </p:spTree>
    <p:extLst>
      <p:ext uri="{BB962C8B-B14F-4D97-AF65-F5344CB8AC3E}">
        <p14:creationId xmlns:p14="http://schemas.microsoft.com/office/powerpoint/2010/main" val="388605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BFD9-6E62-6055-866D-E3A236D8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D8E920E5-68B4-09D9-41AF-D38048053F5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B90E190-14A8-EEEF-D1FC-81D28214B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936" y="2379406"/>
            <a:ext cx="11012128" cy="153891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800">
                <a:latin typeface="Times New Roman" panose="02020603050405020304" pitchFamily="18" charset="0"/>
                <a:cs typeface="Times New Roman" panose="02020603050405020304" pitchFamily="18" charset="0"/>
              </a:rPr>
              <a:t>Секрет баланса между </a:t>
            </a: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</a:t>
            </a:r>
            <a:r>
              <a:rPr lang="ru-RU" sz="48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IT-</a:t>
            </a:r>
            <a:r>
              <a:rPr lang="ru-RU" sz="4800">
                <a:latin typeface="Times New Roman" panose="02020603050405020304" pitchFamily="18" charset="0"/>
                <a:cs typeface="Times New Roman" panose="02020603050405020304" pitchFamily="18" charset="0"/>
              </a:rPr>
              <a:t>гигантами</a:t>
            </a:r>
          </a:p>
        </p:txBody>
      </p:sp>
    </p:spTree>
    <p:extLst>
      <p:ext uri="{BB962C8B-B14F-4D97-AF65-F5344CB8AC3E}">
        <p14:creationId xmlns:p14="http://schemas.microsoft.com/office/powerpoint/2010/main" val="201244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0921-B3DB-2485-3F0F-0EC428D8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485CAB3-CB55-B9EC-4705-F7E7E855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23" y="468922"/>
            <a:ext cx="10795563" cy="789879"/>
          </a:xfrm>
        </p:spPr>
        <p:txBody>
          <a:bodyPr wrap="square" rtlCol="0" anchor="t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Лицензия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GPL-2.0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3CF134-17A8-A3EC-8813-07FC0B433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5223" y="1494502"/>
            <a:ext cx="6292646" cy="4763931"/>
          </a:xfrm>
        </p:spPr>
        <p:txBody>
          <a:bodyPr wrap="square" rtlCol="0">
            <a:normAutofit/>
          </a:bodyPr>
          <a:lstStyle>
            <a:defPPr>
              <a:defRPr lang="ru-RU"/>
            </a:defPPr>
          </a:lstStyle>
          <a:p>
            <a:pPr marL="0" lvl="1" indent="0" rtl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юридический щит для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Linux.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Любые изменения в самом ядре Linux, которые распространяются, должны быть предоставлены в виде исходного кода под той же лицензией. Корпорация не может взять ядро, существенно доработать его и продавать как проприетарный продукт.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Если крупная компания (например,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Intel)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оптимизируют ядро под свои нужды, то они обязаны открыть эти патчи сообществу. Благодаря этому любые изменения ядра попадают в общую копилку.</a:t>
            </a:r>
          </a:p>
        </p:txBody>
      </p:sp>
      <p:pic>
        <p:nvPicPr>
          <p:cNvPr id="1026" name="Picture 2" descr="GPL Cooperation Commitment: Promise of Collaborative Interpretation - The  IPKat">
            <a:extLst>
              <a:ext uri="{FF2B5EF4-FFF2-40B4-BE49-F238E27FC236}">
                <a16:creationId xmlns:a16="http://schemas.microsoft.com/office/drawing/2014/main" id="{0E74DDE1-174C-A294-099F-32B67B90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471" y="1122261"/>
            <a:ext cx="5661075" cy="230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120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47560-8283-74E1-E58E-D7505BC9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2212478-6599-B1A5-77B8-08ADE469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26" y="458819"/>
            <a:ext cx="9546867" cy="809543"/>
          </a:xfrm>
        </p:spPr>
        <p:txBody>
          <a:bodyPr wrap="square" rtlCol="0" anchor="t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модели разработки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F306558-CCE9-BD7E-4711-C7C3F1F8E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5726" y="1759973"/>
            <a:ext cx="11405165" cy="3972233"/>
          </a:xfrm>
        </p:spPr>
        <p:txBody>
          <a:bodyPr wrap="square" rtlCol="0">
            <a:normAutofit/>
          </a:bodyPr>
          <a:lstStyle>
            <a:defPPr>
              <a:defRPr lang="ru-RU"/>
            </a:defPPr>
          </a:lstStyle>
          <a:p>
            <a:pPr marL="0" lvl="1" indent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о принятии кода принимается исключительно на основе его технических достоинств, а не того, какая компания его написала. Плохой код от Google будет отвергнут, а блестящий патч от одиночки — принят.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рычагов давления: мейнтейнер является боссом в своей области разработки, поэтому давления «сверху» на него нет. Теоретически, возможны подкупы, но это чревато фатальными репутационными рисками для разработчика.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не стоит забывать, что информации о любом изменении, любой строчке кода открыта любому желающему. В том числе независимым специалистам, которые регулярно просматривают код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Linux.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00000"/>
              </a:lnSpc>
              <a:buNone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 сообществе ядра, особенно среди ключевых мейнтейнеров, сильна культура независимости, технической честности и памяти о попытках давления в прошлом. Они яростно защищают техническую целостность проекта. Такие потенциальные риски репутации создают серьёзные рычаги давления для любой корпорации.</a:t>
            </a:r>
          </a:p>
        </p:txBody>
      </p:sp>
    </p:spTree>
    <p:extLst>
      <p:ext uri="{BB962C8B-B14F-4D97-AF65-F5344CB8AC3E}">
        <p14:creationId xmlns:p14="http://schemas.microsoft.com/office/powerpoint/2010/main" val="2448197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40581-AC7D-FB87-15EA-8EBD36F1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49202B9-540E-0AA8-FBD8-4DC874E29F7D}"/>
              </a:ext>
            </a:extLst>
          </p:cNvPr>
          <p:cNvSpPr txBox="1"/>
          <p:nvPr/>
        </p:nvSpPr>
        <p:spPr>
          <a:xfrm>
            <a:off x="403379" y="1651820"/>
            <a:ext cx="118771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Корпорации поняли, что конкурировать на уровне ядра – невероятно расточительное занятие, а сотрудничать – выгодно.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платформа, конкурентные продукты: все (Red Hat, SUSE, Canonical, Google, Amazon, Microsoft) используют одно и то же ядро, но конкурируют на уровнях дистрибутивов, сервисов, поддержки и облачных решений.</a:t>
            </a: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ядра — дорогое дело. Вкладываясь в его разработку, компании делят эти расходы с конкурентами, получая взамен современную, безопасную и производительную основу для своих бизнесов.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Предотвращение захвата рынка одним игроком: для всех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Microsoft,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–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это способ противостоять доминированию одной компании (например, той же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Server).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Им выгодно, чтоб фундамент их архитектуры прочно стоял благодаря неподкупности мейнтейнеров и Линуса Торвальдса, а не был зависим от интересов другой крупной корпорации.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A64800-9AC2-2190-FBF6-7D869BF0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379" y="405283"/>
            <a:ext cx="7960421" cy="799384"/>
          </a:xfrm>
        </p:spPr>
        <p:txBody>
          <a:bodyPr/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Экономика взаимной выгоды</a:t>
            </a:r>
          </a:p>
        </p:txBody>
      </p:sp>
    </p:spTree>
    <p:extLst>
      <p:ext uri="{BB962C8B-B14F-4D97-AF65-F5344CB8AC3E}">
        <p14:creationId xmlns:p14="http://schemas.microsoft.com/office/powerpoint/2010/main" val="141523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74AC-32CC-EEEC-3F7D-43F2A602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B57EB3EB-29AD-FE71-E691-4F260EE6F12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64C3FDD-AF5E-989E-CDE2-45F90249D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936" y="2536721"/>
            <a:ext cx="11012128" cy="104729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80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конфликтов вокруг ядра</a:t>
            </a:r>
          </a:p>
        </p:txBody>
      </p:sp>
    </p:spTree>
    <p:extLst>
      <p:ext uri="{BB962C8B-B14F-4D97-AF65-F5344CB8AC3E}">
        <p14:creationId xmlns:p14="http://schemas.microsoft.com/office/powerpoint/2010/main" val="225469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DAA8-EDAF-CCFD-F73E-B69A4924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4C0C6CC-B3E1-F5AC-7A79-E61A970BE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093E59CC-4E62-D806-5CD0-5890907F153D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78ADB8F-B592-B5BA-21FD-D953D2CD40F3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F6874BDE-CFBC-611C-09A3-3C04E685EE4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375B6-8AE5-4B61-8B02-45831E20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437" y="235502"/>
            <a:ext cx="9433331" cy="783216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algn="l" rtl="0"/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 с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Миннесотским университетом (2021 г.)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BBD8865-541F-83C9-E238-BF6AB364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F3AA3-6855-D5D1-0FFE-F6EABAF9AFC0}"/>
              </a:ext>
            </a:extLst>
          </p:cNvPr>
          <p:cNvSpPr txBox="1"/>
          <p:nvPr/>
        </p:nvSpPr>
        <p:spPr>
          <a:xfrm>
            <a:off x="227346" y="1455705"/>
            <a:ext cx="117385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Исследователи из Университета Миннесоты в рамках академического исследования отправляли в основную ветку ядра заведомо некорректные или содержащие уязвимости патчи, чтобы изучить процесс код-ревью.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вскрытия помимо отката всех патчей ведущим мейнтейнером стабильных веток весь университет был забанен на отправку патчей. Линус Торвальдс публично заявил, что подобные действия – это враждебный акт по отношению ко всему сообществу.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Несколько позже бан был снят, однако для этого потребовалось: </a:t>
            </a: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расследования на уровне деканата факультета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подробного плана, гарантирующего, что подобное больше не повторится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Отстранение профессора, руководившего спорным исследованием, от всех государственных исследований на срок минимум до конца 2022 года.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Официальное письмо с извинениями от декана факультета науки и техники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UMN 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До описанных событий университетом было внесено много положительных изменений в ядро, однако вся накопленная позитивная репутация была почти полностью уничтожена одним неэтичным поступком.</a:t>
            </a:r>
          </a:p>
        </p:txBody>
      </p:sp>
    </p:spTree>
    <p:extLst>
      <p:ext uri="{BB962C8B-B14F-4D97-AF65-F5344CB8AC3E}">
        <p14:creationId xmlns:p14="http://schemas.microsoft.com/office/powerpoint/2010/main" val="3055763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F609-C6CC-7CE3-5D53-473B4FC7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0628855-702B-FABC-2322-3CC27DDAD86A}"/>
              </a:ext>
            </a:extLst>
          </p:cNvPr>
          <p:cNvSpPr txBox="1"/>
          <p:nvPr/>
        </p:nvSpPr>
        <p:spPr>
          <a:xfrm>
            <a:off x="550862" y="1297859"/>
            <a:ext cx="1135600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конце 1998 года из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утекли внутренние документы, в которых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оценивался как угроза и обсуждались тактики противодействия. Позже компания признала подлинность этих документов.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2004 году началась более организованная маркетинговая кампания «Get the Facts», где Microsoft утверждала, что общая стоимость владения Windows Server ниже, чем у Linux. Независимые исследования, в свою очередь, часто показывали, что Linux дешевле в долгосрочной перспективе. Сообщество указывало, что Microsoft не учитывала стоимость лицензий на клиентские ОС, софт и обновления, которые для Windows-инфраструктуры могут быть огромными. Парадоксально, но такая компания по сути лишь привлекла больше внимания к миру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частности – многим было интересно с чем так яростно воюет столь крупная корпорация.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Позже риторика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сменилась, компания стала переходить к сотрудничеству: выпуск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начало его активного финансирования.</a:t>
            </a:r>
          </a:p>
          <a:p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итоге столь явное противостояние стало стратегическим провалом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Microsoft.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остановки, было только укрепление позиций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Linux,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а сама компания была вынуждена перейти к сотрудничеству, при этом значительно очернив свою репутацию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45F61E-DF78-CDC5-EC4F-94C182B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5"/>
            <a:ext cx="7960421" cy="799384"/>
          </a:xfrm>
        </p:spPr>
        <p:txBody>
          <a:bodyPr>
            <a:normAutofit/>
          </a:bodyPr>
          <a:lstStyle/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Давление со стороны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25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4FAE-062C-4EE8-464D-657C67B18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81D5A67-CBE8-6389-9A20-E3261D23F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E5B434D1-0F1D-B329-FC2C-4FBE826E5C36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4331283B-4710-530E-DE62-E9209075153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DB2C6D8C-83F3-1602-120C-AB84CA75500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23DB1-0E6D-DE19-C9BB-FCA1821E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232247"/>
            <a:ext cx="7205840" cy="783216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pPr algn="l" rtl="0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Ссылки на источники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E328CF71-ECAE-31FB-DD00-59A87F351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8F7135-00B1-0605-C274-6AF86CD1204D}"/>
              </a:ext>
            </a:extLst>
          </p:cNvPr>
          <p:cNvSpPr txBox="1"/>
          <p:nvPr/>
        </p:nvSpPr>
        <p:spPr>
          <a:xfrm>
            <a:off x="432620" y="2192594"/>
            <a:ext cx="1113011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Официальная документация по процессу разработки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Ссылка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на ресурсе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media.com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в которой описывается процесс разработки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Ссылка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сайт ядра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Ссылка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Ответ на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Overflow,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котором описывается разница между релизами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Ссылка</a:t>
            </a:r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 ядра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GitHub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Ссылка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от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про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Ссылка</a:t>
            </a:r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 Википедия про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file"/>
              </a:rPr>
              <a:t>Ссылка</a:t>
            </a:r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сайт Миннесотского университета с ссылками на материалы по инциденту с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Linux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Ссылка</a:t>
            </a:r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с описанием кампании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“Get The Facts” //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Ссылка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340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6F1D-EEC1-4FB9-45E8-7E72C4C6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BE36CA9-DA32-E5BF-1589-6C914D26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206" y="141826"/>
            <a:ext cx="6371303" cy="1686973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701AB5-4574-198E-7F35-2F55A6E91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386" y="2362865"/>
            <a:ext cx="7832944" cy="435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1085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7_TF33713516_Win32" id="{06EABBEA-3AAF-44A0-915C-8FB22919E62B}" vid="{153AF236-5B2D-4019-8D59-27DF8338828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{5F13197C-0B02-4560-8AE6-87A624B12B29}TF7eddf224-c89c-478f-8f2f-bfb086892169772cd78c_win32-5c8ed59712c8</Template>
  <TotalTime>257</TotalTime>
  <Words>1605</Words>
  <Application>Microsoft Office PowerPoint</Application>
  <PresentationFormat>Widescreen</PresentationFormat>
  <Paragraphs>132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Walbaum Display</vt:lpstr>
      <vt:lpstr>3DFloatVTI</vt:lpstr>
      <vt:lpstr>Особенности разработки ядра Linux</vt:lpstr>
      <vt:lpstr>Что такое Linux?</vt:lpstr>
      <vt:lpstr>Сферы использования Linux</vt:lpstr>
      <vt:lpstr> Серверы: большая часть веб серверов и облачных инфраструктур  Мобильные устройства: ОС Android основана на Linux  Суперкомпьютеры: более 95% суперкомпьютеров используют Linux  Транспорт: бортовые системы автомобилей (Tesla, Google) и системы управления трафиком  Космос: используется в космических аппаратах  Настольные ПК и ноутбуки: используются в основном разработчиками </vt:lpstr>
      <vt:lpstr>2 стороны разработки</vt:lpstr>
      <vt:lpstr>Как происходит процесс разработки</vt:lpstr>
      <vt:lpstr>Общее описание</vt:lpstr>
      <vt:lpstr>Система вкладов</vt:lpstr>
      <vt:lpstr>Этапы жизненного цикла разработки</vt:lpstr>
      <vt:lpstr>Merge Window (окно слияния)</vt:lpstr>
      <vt:lpstr>Кандидаты в релиз (RC)</vt:lpstr>
      <vt:lpstr>Stable Release </vt:lpstr>
      <vt:lpstr>Секрет баланса между Open-Source и IT-гигантами</vt:lpstr>
      <vt:lpstr>Лицензия GPL-2.0</vt:lpstr>
      <vt:lpstr>Особенности модели разработки</vt:lpstr>
      <vt:lpstr>Экономика взаимной выгоды</vt:lpstr>
      <vt:lpstr>Примеры конфликтов вокруг ядра</vt:lpstr>
      <vt:lpstr>Случай с Миннесотским университетом (2021 г.)</vt:lpstr>
      <vt:lpstr>Давление со стороны Microsoft </vt:lpstr>
      <vt:lpstr>Ссылки на источники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flakon</dc:creator>
  <cp:lastModifiedBy>flakon</cp:lastModifiedBy>
  <cp:revision>6</cp:revision>
  <dcterms:created xsi:type="dcterms:W3CDTF">2026-01-08T20:05:09Z</dcterms:created>
  <dcterms:modified xsi:type="dcterms:W3CDTF">2026-01-10T18:22:06Z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